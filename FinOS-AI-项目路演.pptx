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orient="horz" pos="640" userDrawn="1">
          <p15:clr>
            <a:srgbClr val="A4A3A4"/>
          </p15:clr>
        </p15:guide>
        <p15:guide id="3" orient="horz" pos="4088" userDrawn="1">
          <p15:clr>
            <a:srgbClr val="A4A3A4"/>
          </p15:clr>
        </p15:guide>
        <p15:guide id="4" pos="7401" userDrawn="1">
          <p15:clr>
            <a:srgbClr val="A4A3A4"/>
          </p15:clr>
        </p15:guide>
        <p15:guide id="5" orient="horz" pos="391" userDrawn="1">
          <p15:clr>
            <a:srgbClr val="A4A3A4"/>
          </p15:clr>
        </p15:guide>
        <p15:guide id="7" orient="horz" pos="482" userDrawn="1">
          <p15:clr>
            <a:srgbClr val="A4A3A4"/>
          </p15:clr>
        </p15:guide>
        <p15:guide id="8" pos="4974" userDrawn="1">
          <p15:clr>
            <a:srgbClr val="A4A3A4"/>
          </p15:clr>
        </p15:guide>
        <p15:guide id="9" pos="5087" userDrawn="1">
          <p15:clr>
            <a:srgbClr val="A4A3A4"/>
          </p15:clr>
        </p15:guide>
        <p15:guide id="10" pos="2547" userDrawn="1">
          <p15:clr>
            <a:srgbClr val="A4A3A4"/>
          </p15:clr>
        </p15:guide>
        <p15:guide id="11" pos="2661" userDrawn="1">
          <p15:clr>
            <a:srgbClr val="A4A3A4"/>
          </p15:clr>
        </p15:guide>
        <p15:guide id="1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E3FF"/>
    <a:srgbClr val="0150FF"/>
    <a:srgbClr val="0085FF"/>
    <a:srgbClr val="0044C6"/>
    <a:srgbClr val="8159DC"/>
    <a:srgbClr val="092A88"/>
    <a:srgbClr val="6FFF03"/>
    <a:srgbClr val="6C47BE"/>
    <a:srgbClr val="051A57"/>
    <a:srgbClr val="008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9"/>
    <p:restoredTop sz="96272"/>
  </p:normalViewPr>
  <p:slideViewPr>
    <p:cSldViewPr snapToGrid="0">
      <p:cViewPr>
        <p:scale>
          <a:sx n="88" d="100"/>
          <a:sy n="88" d="100"/>
        </p:scale>
        <p:origin x="64" y="1000"/>
      </p:cViewPr>
      <p:guideLst>
        <p:guide pos="257"/>
        <p:guide orient="horz" pos="640"/>
        <p:guide orient="horz" pos="4088"/>
        <p:guide pos="7401"/>
        <p:guide orient="horz" pos="391"/>
        <p:guide orient="horz" pos="482"/>
        <p:guide pos="4974"/>
        <p:guide pos="5087"/>
        <p:guide pos="2547"/>
        <p:guide pos="2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耗时（小时）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人工基线</c:v>
                </c:pt>
                <c:pt idx="1">
                  <c:v>系统辅助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32.0</c:v>
                </c:pt>
                <c:pt idx="1">
                  <c:v>0.75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C7D2DE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通过率 / 得分（%）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事实抽取 F1</c:v>
                </c:pt>
                <c:pt idx="1">
                  <c:v>引用有效性</c:v>
                </c:pt>
                <c:pt idx="2">
                  <c:v>规则引擎</c:v>
                </c:pt>
                <c:pt idx="3">
                  <c:v>端到端用例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95.8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C7D2DE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风险数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重大</c:v>
                </c:pt>
                <c:pt idx="1">
                  <c:v>高</c:v>
                </c:pt>
                <c:pt idx="2">
                  <c:v>中</c:v>
                </c:pt>
                <c:pt idx="3">
                  <c:v>低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C7D2DE"/>
          </a:solidFill>
          <a:latin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D3E7DF-A4DD-A746-91F7-8F1AAEB6EE48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EFDA6-082A-4249-990D-197F7BF56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2200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22103-50BF-21B0-9217-9610B4823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24DDBE-0CE0-1123-AE4E-6D9172D0B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9A523-1DFB-68AB-8E02-14BC503DB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4F6EAB-4A3E-6D29-4466-7214DEEDD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ABBC8-D9C1-C55A-7AA8-2C9BAAEC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9535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8F7481-9265-4950-36E9-170EABE7D17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05" y="0"/>
            <a:ext cx="12190195" cy="6858000"/>
          </a:xfrm>
          <a:prstGeom prst="rect">
            <a:avLst/>
          </a:prstGeom>
        </p:spPr>
      </p:pic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BA08552-7E3A-3A54-41AC-58B6F08162EE}"/>
              </a:ext>
            </a:extLst>
          </p:cNvPr>
          <p:cNvCxnSpPr>
            <a:cxnSpLocks/>
          </p:cNvCxnSpPr>
          <p:nvPr userDrawn="1"/>
        </p:nvCxnSpPr>
        <p:spPr>
          <a:xfrm>
            <a:off x="0" y="757381"/>
            <a:ext cx="12192000" cy="0"/>
          </a:xfrm>
          <a:prstGeom prst="line">
            <a:avLst/>
          </a:prstGeom>
          <a:ln w="3175">
            <a:solidFill>
              <a:srgbClr val="0150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F4CADA30-B473-F37B-55C7-5977ABF05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0"/>
          </a:blip>
          <a:stretch>
            <a:fillRect/>
          </a:stretch>
        </p:blipFill>
        <p:spPr>
          <a:xfrm>
            <a:off x="10289722" y="141964"/>
            <a:ext cx="1722882" cy="4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71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A6C179-3106-2F48-2599-F20296190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E85162-FE54-08E5-F218-E21FBE6D4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10668F-6E94-A027-F43D-02F1C6256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A60CE2-61EA-E5A6-8194-22F8EF7BB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E33921-80BA-19A4-2692-FF9D3AA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56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27484-0D7B-04AF-6658-1EE033050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699A11-93A4-0E67-BBCC-53287CD62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6EDDB8-7228-A29A-7CB4-4AC08EDC8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E1B5D2-9F57-1126-DC5D-D67711394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095D90-52D2-B602-4219-05EC0D189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50C41-72C2-B2D7-03CD-294E702FA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54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BE87CA-2E48-EDB9-FC15-F1E72701B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DF91D6-BFC4-0FF8-EF2C-F73973593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169C09-DA40-1BF2-18CB-834C38EA5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E320D8-FE5D-B538-EF65-DFAF72B69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6CF91A-A739-F591-36D8-3999B11FC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4CDF77-04DF-1B21-DF68-656752CE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D4C2CE-9884-7BF5-AF45-A77FD3C4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E9D549-6E82-A090-C20F-D16D737E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589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7C8EC-AB19-4A29-8673-EC145F19C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504E04-3207-7D56-358E-905958636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59CFF8-4449-269F-8E93-3DA52105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34E4C6-27B6-94A8-00BE-27288A0F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92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93B7DB-F99F-9995-52B5-08B78A57B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95AD1B-F356-7FD0-8272-F041867D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21F910-5F44-5748-AC35-5386C2B74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689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EBD87-FFAD-A1DE-4B90-58F1B618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4FF9C3-6A33-23D8-EEF2-FFA2804F0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6C371E-33D7-18A1-759D-B801BA676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B05F7E-BB0C-B4A7-F765-75430AF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72AFF-041F-72D2-D1D7-F956707B5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05E418-7B69-3FA4-C90E-1EB4694D1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7930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097E2-9BDA-FFDC-8B4E-2DC81809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4A420CE-CC34-3BBF-A9BF-7C20930D72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63A794-1324-EC67-FA44-48E86876C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C29FB2-47DB-A7DD-8809-B17153AF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4BF867-414E-53A8-D4FD-65C0E729D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D9929-7138-2344-1EF0-F5ED127D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256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E22C7-553F-0333-9723-CFCE2AAD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705BC5-7C33-8947-B430-9936CF88D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197BF8-119D-7333-7671-AE31CB5E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3A4C7-9B7A-7367-0194-9A243AC1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8EA94-A610-8F30-47A0-6B377213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1146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7CC662-A480-3A8D-3CEB-8E13D7E662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F291AD-52E6-4FF2-28F7-37DE40F87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2DA9F-4947-8341-71FE-A589EA372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EEE299-F9CC-2D1F-F5BA-6AC852FE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05BC5B-E8F1-7081-1CD4-20ED298B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5510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C9D836-9EC0-553F-579F-769A6DB7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5A523E-6F2A-8A92-F8E0-8F9E43266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706E64-956D-9066-869D-9DB3643ECA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B7207-657A-354C-8B41-D63F2796892D}" type="datetimeFigureOut">
              <a:rPr kumimoji="1" lang="zh-CN" altLang="en-US" smtClean="0"/>
              <a:t>2022/11/14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97207-E649-6CC1-94FA-0C82D6354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9D9BD-485E-827A-1C0A-1F3E20ABD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E1524-B659-FB4B-812D-7D4542260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40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6596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FinOS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企业金融风险研判 Agent · 从资料到可核验风险结论的一体化工作台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让企业资料、经营事实、业务规则与外部研究进入同一条可追溯的研判链路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汇报人：〔汇报人〕　|　机构：〔机构名〕　|　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34440"/>
            <a:ext cx="5074920" cy="20574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01  场景与痛点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真实业务场景切入，梳理资料研判现状痛点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074920" cy="20574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02  方案与能力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FinOS AI 解决方案、能力全景与核心创新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566160"/>
            <a:ext cx="5074920" cy="20574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03  落地成效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效率、质量对照与真实案例复盘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566160"/>
            <a:ext cx="5074920" cy="20574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8B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8B9CFF"/>
                </a:solidFill>
                <a:latin typeface="微软雅黑"/>
                <a:ea typeface="微软雅黑"/>
                <a:cs typeface="微软雅黑"/>
              </a:rPr>
              <a:t>04  价值与路线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可信合规、推广价值与下一步规划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128016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886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从一次真实的制造业客户尽调说起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真实业务场景：一次制造业客户授信尽调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548640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客户对象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华兴精密制造股份有限公司（制造业，拟授信流动资金贷款 5,000 万元）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尽调资料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审计报告、拟签借款合同、营业执照、产销存与银行流水、客户台账等 12 份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交付目标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3 个工作日内给出可核验的结论与风险清单，并完成复核留痕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参与角色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客户经理、风控复核人（职责分离，结论必须人工确认）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核心难点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资料分散、口径不一、结论难追溯、复核与审批留痕分散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188720"/>
            <a:ext cx="4572000" cy="214884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为什么必须换一套做法？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人工：慢、易漏、口径随人而变。
大模型：说得动听，但不可复现、无证据、难审计。
我们需要：可复现的判定 + 可追溯的证据 + 可留痕的复核。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520440"/>
            <a:ext cx="4572000" cy="214884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本次演示目标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用同一条链路完成：
资料解析 → 事实抽取 → 规则命中 → 风险生成 → 人工复核 → 报告导出。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现状：资料研判的四个痛点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2468880" cy="329184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① 资料散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PDF / Word / Excel / 图片混放，
数字靠人工誊抄，慢且易错。
12 份资料、上百个数字逐个核对。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371600"/>
            <a:ext cx="2468880" cy="329184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② 口径乱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同一套准入制度，
不同人阈值把握不一，标准漂移。
漏检与误判同时存在。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2468880" cy="329184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③ 结论虚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结论说完就散，
说不清依据哪份资料、哪条规则、
哪个位置，无法审计复现。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71600"/>
            <a:ext cx="2468880" cy="329184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④ 协作断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复核与审批留痕分散，
责任边界模糊。
关键结论缺人工确认闭环。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WHY RULES +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为什么是「确定性规则 + 大模型」分工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097280"/>
          <a:ext cx="104241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2194560"/>
                <a:gridCol w="42062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纯人工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纯大模型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FinOS AI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可复现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视人而定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不可复现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规则判定纯函数，同输入同结论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语义理解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强（但慢）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大模型负责抽取与叙述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证据可追溯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记录不完整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易编造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每条事实带原文引用与位置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人工复核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口头/分散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候选风险强制人工核验 + 留痕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审计与治理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弱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角色/密级/复核/审计内建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" y="4251960"/>
            <a:ext cx="10424160" cy="13716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一句话总结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把「判定」交给确定性代码（可复现、可审计），把「理解」交给大模型（懂语义），再用「证据链 + 人工复核」把两者焊死在一条可追溯链路上。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128016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方案与能力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886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FinOS AI 如何把研判链路一体化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解决方案总览 · 核心链路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2A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7128" y="1188720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68296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2A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资料解析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6744" y="1188720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7911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2A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事实抽取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59" y="1188720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67527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2A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规则匹配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5975" y="1188720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67143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1188720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65207" y="1188720"/>
            <a:ext cx="2011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66376" y="1188720"/>
            <a:ext cx="1298448" cy="658368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2A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决策交付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40280"/>
            <a:ext cx="1042416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以项目为容器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围绕一笔融资 / 尽调 / 经营分析任务，集中管理资料、规则、风险、结论与流程。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事实可核验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每条事实携带原文逐字引用与位置（行号 / 单元格 / 图像坐标），结论逐级可追溯。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规则确定性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命中判定由纯函数规则引擎完成，同一输入永远得到同一结论，可复现、可审计。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人机闭环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候选风险必须经有权限人员核验，操作全程留痕，形成可交付的研判报告。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能力全景：覆盖企业金融研判全流程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051560"/>
          <a:ext cx="1042415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1942"/>
                <a:gridCol w="7942217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经营决策台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统一观察项目、资料、风险、任务与 Agent 运行态；待办按风险排序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项目中心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企业项目全生命周期：行业、金额、负责人、推进阶段（表格 / 看板双视图）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资料研判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文本 / 图片 OCR / 表格结构识别，事实台账逐条携带原文引用并可定位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风险中心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按等级聚合风险信号；详情含 What / Evidence / Rule / Impact / Review / Traceability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规则库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准入、授信、并购、担保等规则；9 个行业分组、71 条模板，可测试、可版本化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流程中心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研判流程全景与任务看板：待处理 → 处理中 → 待复核 → 已完成，超期标红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/ 助手 / 投研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资料理解、规则匹配、风险研判、投研整理子 Agent；流式助手与 AI 底稿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企业治理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五级角色、项目授权、数据密级、复核队列、模型评测、连接器与全量审计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模型中心 / 数据大屏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自带模型接入与用量观测；经营与风险全景大屏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实操：从上传到可交付报告（四阶段管线）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2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解析文件</a:t>
            </a: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PDF / Word / Excel / 图片自动解析，保留结构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2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抽取事实</a:t>
            </a: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大模型抽取量化事实，逐条带原文引用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2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规则判定</a:t>
            </a: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确定性规则引擎对事实命中判定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2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④ 生成叙述</a:t>
            </a: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基于事实与命中生成研判说明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2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后续</a:t>
            </a: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候选风险 → 人工复核 → 一键导出报告</a:t>
            </a:r>
          </a:p>
        </p:txBody>
      </p:sp>
      <p:pic>
        <p:nvPicPr>
          <p:cNvPr id="5" name="Picture 4" descr="07-document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005840"/>
            <a:ext cx="3803904" cy="2377440"/>
          </a:xfrm>
          <a:prstGeom prst="rect">
            <a:avLst/>
          </a:prstGeom>
        </p:spPr>
      </p:pic>
      <p:pic>
        <p:nvPicPr>
          <p:cNvPr id="6" name="Picture 5" descr="12-risk-dra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474720"/>
            <a:ext cx="380390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产品界面一览</a:t>
            </a:r>
          </a:p>
        </p:txBody>
      </p:sp>
      <p:pic>
        <p:nvPicPr>
          <p:cNvPr id="4" name="Picture 3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14500"/>
            <a:ext cx="329184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4389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经营决策台</a:t>
            </a:r>
          </a:p>
        </p:txBody>
      </p:sp>
      <p:pic>
        <p:nvPicPr>
          <p:cNvPr id="6" name="Picture 5" descr="15-rules-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14500"/>
            <a:ext cx="32918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80560" y="4389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规则库 · 决策逻辑</a:t>
            </a:r>
          </a:p>
        </p:txBody>
      </p:sp>
      <p:pic>
        <p:nvPicPr>
          <p:cNvPr id="8" name="Picture 7" descr="29-screen-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714500"/>
            <a:ext cx="329184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2440" y="4389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数据大屏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界面来自本地运行实例，用于演示；数据为示例。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四项核心创新：可信 AI 研判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371600"/>
            <a:ext cx="5074920" cy="201168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1. 双引擎分工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规则判定 = 确定性纯函数（可复现、可审计）；
语义理解与叙述 = 大模型。
既懂语义，又可复现。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71600"/>
            <a:ext cx="5029200" cy="201168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2. 证据链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每条事实带原文逐字引用与位置；
结论 → 事实 → 证据 → 来源逐级可追溯。
实测引用有效性 100%。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611880"/>
            <a:ext cx="5074920" cy="201168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3. 人机复核闭环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候选风险必须人工核验才成为正式风险；
核验意见与缓释措施全程留痕。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11880"/>
            <a:ext cx="5029200" cy="201168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4. 企业治理内建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五级角色、项目授权、数据密级、
复核队列、模型评测与审计开箱可用。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128016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886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同一笔尽调：人工 2 天，系统 45 分钟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整体数据情况（演示数据）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88720"/>
            <a:ext cx="1938528" cy="13716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12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份尽调资料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90087" y="1188720"/>
            <a:ext cx="1938528" cy="13716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62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条结构化事实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11496" y="1188720"/>
            <a:ext cx="1938528" cy="13716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9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条规则命中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32903" y="1188720"/>
            <a:ext cx="1938528" cy="13716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6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条候选风险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54311" y="1188720"/>
            <a:ext cx="1938528" cy="13716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8B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8B9CFF"/>
                </a:solidFill>
                <a:latin typeface="微软雅黑"/>
                <a:ea typeface="微软雅黑"/>
                <a:cs typeface="微软雅黑"/>
              </a:rPr>
              <a:t>4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条复核确认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本周整体情况　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以一笔制造业流动资金贷款尽调为例：上传 12 份资料后，系统完成解析、抽取、判定与叙述，产出 62 条带引用的事实与 6 条候选风险。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质量与覆盖　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事实抽取精确率 / 召回率 / F1 均为 95.8%，原文引用有效性 100%；规则引擎评测 296 条用例 100% 通过。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复核留痕　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6 条候选风险经人工核验确认 4 条，核验人、时间与意见全部写入审计记录。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效率对照：人工 vs 系统辅助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68680" y="1051560"/>
          <a:ext cx="493775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738"/>
                <a:gridCol w="1452282"/>
                <a:gridCol w="1742738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人工基线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系统辅助</a:t>
                      </a:r>
                    </a:p>
                  </a:txBody>
                  <a:tcPr marL="91440" marR="73152" marT="18288" marB="18288" anchor="ctr">
                    <a:solidFill>
                      <a:srgbClr val="152A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单笔尽调耗时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≈32 人时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≈45 分钟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关键指标整理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手工誊抄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 条带引用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规则命中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翻制度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 / 14 条</a:t>
                      </a:r>
                    </a:p>
                  </a:txBody>
                  <a:tcPr marL="91440" marR="73152" marT="18288" marB="18288" anchor="ctr">
                    <a:solidFill>
                      <a:srgbClr val="0B142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风险核验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经验判断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C7D2D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→ 4 条</a:t>
                      </a:r>
                    </a:p>
                  </a:txBody>
                  <a:tcPr marL="91440" marR="73152" marT="18288" marB="18288" anchor="ctr">
                    <a:solidFill>
                      <a:srgbClr val="101B3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" y="3977639"/>
            <a:ext cx="4937760" cy="155448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↓ 约 90%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尽调资料整理环节耗时下降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035040" y="1051560"/>
          <a:ext cx="5257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质量与覆盖：可复现的评测证据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097280"/>
          <a:ext cx="5486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583680" y="1097280"/>
          <a:ext cx="47091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CASE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真实案例复盘：从痛点 to 赋能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188720"/>
            <a:ext cx="5074920" cy="45720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客户经理的痛点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随着客户数增长，尽调资料越堆越多，关键数字靠人工誊抄，容易漏；
同一套制度，不同同事阈值把握不一；
结论写进报告后，说不清依据哪条资料、哪条规则；
复核与审批意见分散在群里，责任边界模糊。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029200" cy="457200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系统赋能过程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上传 12 份资料，系统四阶段自动解析与抽取，产出 62 条带引用事实；
确定性规则引擎命中 9 条规则，生成 6 条候选风险；
风险详情六段结构（证据/规则/影响/复核/溯源）逐级可查；
人工复核确认 4 条，全程留痕；一键导出研判报告。
单笔尽调从 2 天缩短到约 45 分钟。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468880"/>
            <a:ext cx="128016" cy="1371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317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461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价值与路线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8862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可信合规、推广价值与下一步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TRUST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可信与合规：金融场景的底线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104241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密钥零泄露</a:t>
            </a: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模型 API Key 在服务端以 AES-256-GCM 加密保存，返回浏览器仅掩码。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身份与令牌</a:t>
            </a: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短期 Access Token + HttpOnly Refresh Cookie，原子吊销与重放检测。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安全边界</a:t>
            </a: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上传分块限额、出站 SSRF 防护、分级限流、可信反向代理。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组织治理</a:t>
            </a: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五级角色、项目授权、数据密级、复核队列与不可见操作留痕。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开源可私有化</a:t>
            </a: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MIT 许可，支持自带模型与私有化部署，数据不出内网。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5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责任边界</a:t>
            </a:r>
            <a:r>
              <a:rPr sz="12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所有 AI 输出需人工复核；系统提供分析与辅助，不替代授信 / 投资 / 合规决策。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ARCHITECTURE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技术架构与可复现证据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097280"/>
            <a:ext cx="5486400" cy="219456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架构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前端：Next.js 15 / React 19 / TypeScript strict / Tailwind
服务端：FastAPI + SQLAlchemy 2
数据：SQLite（开发）/ PostgreSQL 16（生产）+ Redis
模型：自带供应商，凭据仅服务端加密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097280"/>
            <a:ext cx="4617720" cy="219456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安全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短期令牌 + HttpOnly Refresh
AES-256-GCM 字段加密
SSRF / 限流 / 可信代理
开源自托管（MIT）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520440"/>
            <a:ext cx="3337560" cy="210312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规则引擎评测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296 / 296 通过
（100%，不调用模型）
npm run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520440"/>
            <a:ext cx="3337560" cy="210312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事实抽取评测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P/R/F1 = 95.8%
引用有效性 100%
npm run ai-eval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520440"/>
            <a:ext cx="3291840" cy="210312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端到端测试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主链路 18 项通过
单测 85 / 契约 24
CI + CodeQL 全绿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"/>
            <a:ext cx="932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VALUE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推广价值 · 适用场景 · 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97280"/>
            <a:ext cx="56692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适用机构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银行授信 / 供应链金融 / 融资租赁 / 企业风控 / 投研机构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适用任务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尽调、贷前核验、经营分析、并购与投融资资料整理、制度规则复核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行业模板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9 个行业分组、71 条规则模板，一键加入后按需调整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外部数据源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汇率、LPR、世界银行、GLEIF、SEC 申报、美国财政部利率、巨潮公告（免费、无需密钥）</a:t>
            </a:r>
          </a:p>
          <a:p>
            <a:pPr algn="l">
              <a:lnSpc>
                <a:spcPct val="128000"/>
              </a:lnSpc>
              <a:spcAft>
                <a:spcPts val="1300"/>
              </a:spcAft>
            </a:pPr>
            <a:r>
              <a:rPr sz="13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· 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落地路径</a:t>
            </a:r>
            <a:r>
              <a:rPr sz="120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  接入自有模型 → 建项目上传资料 → 配置行业规则 → 复核风险 → 输出报告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188720"/>
            <a:ext cx="4526280" cy="219456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下一步规划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① 扩充行业规则包与评测集；② 接入更多受控数据源；③ 推进真实业务试点，沉淀量化收益基线。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3566160"/>
            <a:ext cx="4526280" cy="2194560"/>
          </a:xfrm>
          <a:prstGeom prst="roundRect">
            <a:avLst/>
          </a:prstGeom>
          <a:solidFill>
            <a:srgbClr val="0B14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9144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微软雅黑"/>
                <a:ea typeface="微软雅黑"/>
                <a:cs typeface="微软雅黑"/>
              </a:rPr>
              <a:t>部署与开源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C7D2DE"/>
                </a:solidFill>
                <a:latin typeface="微软雅黑"/>
                <a:ea typeface="微软雅黑"/>
                <a:cs typeface="微软雅黑"/>
              </a:rPr>
              <a:t>Docker 一键部署；也可只跑前端体验。MIT 开源，欢迎共建规则包与连接器。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28600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38BDF8"/>
                </a:solidFill>
                <a:latin typeface="微软雅黑"/>
                <a:ea typeface="微软雅黑"/>
                <a:cs typeface="微软雅黑"/>
              </a:rPr>
              <a:t>让每一个金融判断，都能回到证据、规则与人工复核。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Q &amp; A　|　开源地址：github.com/Leterhong/FinOS-AI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2854</TotalTime>
  <Words>3911</Words>
  <Application>Microsoft Macintosh PowerPoint</Application>
  <PresentationFormat>宽屏</PresentationFormat>
  <Paragraphs>819</Paragraphs>
  <Slides>29</Slides>
  <Notes>2</Notes>
  <HiddenSlides>2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-webkit-standard</vt:lpstr>
      <vt:lpstr>阿里巴巴普惠体 R</vt:lpstr>
      <vt:lpstr>等线</vt:lpstr>
      <vt:lpstr>等线 Light</vt:lpstr>
      <vt:lpstr>方正兰亭黑简体</vt:lpstr>
      <vt:lpstr>思源黑体 Medium</vt:lpstr>
      <vt:lpstr>Microsoft YaHei</vt:lpstr>
      <vt:lpstr>Microsoft YaHei</vt:lpstr>
      <vt:lpstr>FZZhengHeiS-DB-GB</vt:lpstr>
      <vt:lpstr>Microsoft YaHei Light</vt:lpstr>
      <vt:lpstr>MiSans Bold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38</cp:revision>
  <dcterms:created xsi:type="dcterms:W3CDTF">2022-11-02T02:42:13Z</dcterms:created>
  <dcterms:modified xsi:type="dcterms:W3CDTF">2022-11-14T08:20:30Z</dcterms:modified>
</cp:coreProperties>
</file>