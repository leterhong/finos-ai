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57" userDrawn="1">
          <p15:clr>
            <a:srgbClr val="A4A3A4"/>
          </p15:clr>
        </p15:guide>
        <p15:guide id="2" orient="horz" pos="6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pos="7401" userDrawn="1">
          <p15:clr>
            <a:srgbClr val="A4A3A4"/>
          </p15:clr>
        </p15:guide>
        <p15:guide id="5" orient="horz" pos="391" userDrawn="1">
          <p15:clr>
            <a:srgbClr val="A4A3A4"/>
          </p15:clr>
        </p15:guide>
        <p15:guide id="7" orient="horz" pos="482" userDrawn="1">
          <p15:clr>
            <a:srgbClr val="A4A3A4"/>
          </p15:clr>
        </p15:guide>
        <p15:guide id="8" pos="4974" userDrawn="1">
          <p15:clr>
            <a:srgbClr val="A4A3A4"/>
          </p15:clr>
        </p15:guide>
        <p15:guide id="9" pos="5087" userDrawn="1">
          <p15:clr>
            <a:srgbClr val="A4A3A4"/>
          </p15:clr>
        </p15:guide>
        <p15:guide id="10" pos="2547" userDrawn="1">
          <p15:clr>
            <a:srgbClr val="A4A3A4"/>
          </p15:clr>
        </p15:guide>
        <p15:guide id="11" pos="2661" userDrawn="1">
          <p15:clr>
            <a:srgbClr val="A4A3A4"/>
          </p15:clr>
        </p15:guide>
        <p15:guide id="1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E3FF"/>
    <a:srgbClr val="0150FF"/>
    <a:srgbClr val="0085FF"/>
    <a:srgbClr val="0044C6"/>
    <a:srgbClr val="8159DC"/>
    <a:srgbClr val="092A88"/>
    <a:srgbClr val="6FFF03"/>
    <a:srgbClr val="6C47BE"/>
    <a:srgbClr val="051A57"/>
    <a:srgbClr val="0084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09"/>
    <p:restoredTop sz="96272"/>
  </p:normalViewPr>
  <p:slideViewPr>
    <p:cSldViewPr snapToGrid="0">
      <p:cViewPr>
        <p:scale>
          <a:sx n="88" d="100"/>
          <a:sy n="88" d="100"/>
        </p:scale>
        <p:origin x="64" y="1000"/>
      </p:cViewPr>
      <p:guideLst>
        <p:guide pos="257"/>
        <p:guide orient="horz" pos="640"/>
        <p:guide orient="horz" pos="4088"/>
        <p:guide pos="7401"/>
        <p:guide orient="horz" pos="391"/>
        <p:guide orient="horz" pos="482"/>
        <p:guide pos="4974"/>
        <p:guide pos="5087"/>
        <p:guide pos="2547"/>
        <p:guide pos="266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单笔尽调耗时（小时）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人工基线</c:v>
                </c:pt>
                <c:pt idx="1">
                  <c:v>系统辅助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32.0</c:v>
                </c:pt>
                <c:pt idx="1">
                  <c:v>0.75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solidFill>
            <a:srgbClr val="C7D2DE"/>
          </a:solidFill>
          <a:latin typeface="微软雅黑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通过率 / 得分（%）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事实抽取 F1</c:v>
                </c:pt>
                <c:pt idx="1">
                  <c:v>原文引用有效性</c:v>
                </c:pt>
                <c:pt idx="2">
                  <c:v>规则引擎评测</c:v>
                </c:pt>
                <c:pt idx="3">
                  <c:v>端到端用例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95.8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solidFill>
            <a:srgbClr val="C7D2DE"/>
          </a:solidFill>
          <a:latin typeface="微软雅黑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候选风险数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重大</c:v>
                </c:pt>
                <c:pt idx="1">
                  <c:v>高</c:v>
                </c:pt>
                <c:pt idx="2">
                  <c:v>中</c:v>
                </c:pt>
                <c:pt idx="3">
                  <c:v>低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050">
          <a:solidFill>
            <a:srgbClr val="C7D2DE"/>
          </a:solidFill>
          <a:latin typeface="微软雅黑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3E7DF-A4DD-A746-91F7-8F1AAEB6EE48}" type="datetimeFigureOut">
              <a:rPr kumimoji="1" lang="zh-CN" altLang="en-US" smtClean="0"/>
              <a:t>2022/11/14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7EFDA6-082A-4249-990D-197F7BF563C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220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22103-50BF-21B0-9217-9610B4823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424DDBE-0CE0-1123-AE4E-6D9172D0BF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E9A523-1DFB-68AB-8E02-14BC503DB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B7207-657A-354C-8B41-D63F2796892D}" type="datetimeFigureOut">
              <a:rPr kumimoji="1" lang="zh-CN" altLang="en-US" smtClean="0"/>
              <a:t>2022/11/14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4F6EAB-4A3E-6D29-4466-7214DEEDD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3ABBC8-D9C1-C55A-7AA8-2C9BAAEC3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E1524-B659-FB4B-812D-7D45422608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79535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A08F7481-9265-4950-36E9-170EABE7D1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05" y="0"/>
            <a:ext cx="12190195" cy="6858000"/>
          </a:xfrm>
          <a:prstGeom prst="rect">
            <a:avLst/>
          </a:prstGeom>
        </p:spPr>
      </p:pic>
      <p:cxnSp>
        <p:nvCxnSpPr>
          <p:cNvPr id="14" name="直线连接符 13">
            <a:extLst>
              <a:ext uri="{FF2B5EF4-FFF2-40B4-BE49-F238E27FC236}">
                <a16:creationId xmlns:a16="http://schemas.microsoft.com/office/drawing/2014/main" id="{DBA08552-7E3A-3A54-41AC-58B6F08162EE}"/>
              </a:ext>
            </a:extLst>
          </p:cNvPr>
          <p:cNvCxnSpPr>
            <a:cxnSpLocks/>
          </p:cNvCxnSpPr>
          <p:nvPr userDrawn="1"/>
        </p:nvCxnSpPr>
        <p:spPr>
          <a:xfrm>
            <a:off x="0" y="757381"/>
            <a:ext cx="12192000" cy="0"/>
          </a:xfrm>
          <a:prstGeom prst="line">
            <a:avLst/>
          </a:prstGeom>
          <a:ln w="3175">
            <a:solidFill>
              <a:srgbClr val="0150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10">
            <a:extLst>
              <a:ext uri="{FF2B5EF4-FFF2-40B4-BE49-F238E27FC236}">
                <a16:creationId xmlns:a16="http://schemas.microsoft.com/office/drawing/2014/main" id="{F4CADA30-B473-F37B-55C7-5977ABF05A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lum bright="100000"/>
          </a:blip>
          <a:stretch>
            <a:fillRect/>
          </a:stretch>
        </p:blipFill>
        <p:spPr>
          <a:xfrm>
            <a:off x="10289722" y="141964"/>
            <a:ext cx="1722882" cy="46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712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A6C179-3106-2F48-2599-F20296190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9E85162-FE54-08E5-F218-E21FBE6D47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10668F-6E94-A027-F43D-02F1C6256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B7207-657A-354C-8B41-D63F2796892D}" type="datetimeFigureOut">
              <a:rPr kumimoji="1" lang="zh-CN" altLang="en-US" smtClean="0"/>
              <a:t>2022/11/14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A60CE2-61EA-E5A6-8194-22F8EF7BB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0E33921-80BA-19A4-2692-FF9D3AA33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E1524-B659-FB4B-812D-7D45422608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1566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227484-0D7B-04AF-6658-1EE033050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699A11-93A4-0E67-BBCC-53287CD62E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D6EDDB8-7228-A29A-7CB4-4AC08EDC81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E1B5D2-9F57-1126-DC5D-D67711394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B7207-657A-354C-8B41-D63F2796892D}" type="datetimeFigureOut">
              <a:rPr kumimoji="1" lang="zh-CN" altLang="en-US" smtClean="0"/>
              <a:t>2022/11/14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095D90-52D2-B602-4219-05EC0D189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5A50C41-72C2-B2D7-03CD-294E702F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E1524-B659-FB4B-812D-7D45422608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854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BE87CA-2E48-EDB9-FC15-F1E72701B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DF91D6-BFC4-0FF8-EF2C-F73973593A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1169C09-DA40-1BF2-18CB-834C38EA5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E320D8-FE5D-B538-EF65-DFAF72B69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16CF91A-A739-F591-36D8-3999B11FCA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34CDF77-04DF-1B21-DF68-656752CE6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B7207-657A-354C-8B41-D63F2796892D}" type="datetimeFigureOut">
              <a:rPr kumimoji="1" lang="zh-CN" altLang="en-US" smtClean="0"/>
              <a:t>2022/11/14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9D4C2CE-9884-7BF5-AF45-A77FD3C4B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8E9D549-6E82-A090-C20F-D16D737E0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E1524-B659-FB4B-812D-7D45422608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55899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B7C8EC-AB19-4A29-8673-EC145F19C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1504E04-3207-7D56-358E-905958636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B7207-657A-354C-8B41-D63F2796892D}" type="datetimeFigureOut">
              <a:rPr kumimoji="1" lang="zh-CN" altLang="en-US" smtClean="0"/>
              <a:t>2022/11/14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559CFF8-4449-269F-8E93-3DA52105B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134E4C6-27B6-94A8-00BE-27288A0F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E1524-B659-FB4B-812D-7D45422608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4926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293B7DB-F99F-9995-52B5-08B78A57B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B7207-657A-354C-8B41-D63F2796892D}" type="datetimeFigureOut">
              <a:rPr kumimoji="1" lang="zh-CN" altLang="en-US" smtClean="0"/>
              <a:t>2022/11/14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D95AD1B-F356-7FD0-8272-F041867D6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B21F910-5F44-5748-AC35-5386C2B74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E1524-B659-FB4B-812D-7D45422608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26899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6EBD87-FFAD-A1DE-4B90-58F1B6184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4FF9C3-6A33-23D8-EEF2-FFA2804F0A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86C371E-33D7-18A1-759D-B801BA6765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FB05F7E-BB0C-B4A7-F765-75430AF30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B7207-657A-354C-8B41-D63F2796892D}" type="datetimeFigureOut">
              <a:rPr kumimoji="1" lang="zh-CN" altLang="en-US" smtClean="0"/>
              <a:t>2022/11/14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172AFF-041F-72D2-D1D7-F956707B5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05E418-7B69-3FA4-C90E-1EB4694D1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E1524-B659-FB4B-812D-7D45422608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37930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A097E2-9BDA-FFDC-8B4E-2DC81809F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4A420CE-CC34-3BBF-A9BF-7C20930D72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63A794-1324-EC67-FA44-48E86876C9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C29FB2-47DB-A7DD-8809-B17153AF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B7207-657A-354C-8B41-D63F2796892D}" type="datetimeFigureOut">
              <a:rPr kumimoji="1" lang="zh-CN" altLang="en-US" smtClean="0"/>
              <a:t>2022/11/14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94BF867-414E-53A8-D4FD-65C0E729D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67D9929-7138-2344-1EF0-F5ED127DA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E1524-B659-FB4B-812D-7D45422608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92564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E22C7-553F-0333-9723-CFCE2AADD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8705BC5-7C33-8947-B430-9936CF88D0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197BF8-119D-7333-7671-AE31CB5E9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B7207-657A-354C-8B41-D63F2796892D}" type="datetimeFigureOut">
              <a:rPr kumimoji="1" lang="zh-CN" altLang="en-US" smtClean="0"/>
              <a:t>2022/11/14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D3A4C7-9B7A-7367-0194-9A243AC1D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88EA94-A610-8F30-47A0-6B3772134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E1524-B659-FB4B-812D-7D45422608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611462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27CC662-A480-3A8D-3CEB-8E13D7E662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6F291AD-52E6-4FF2-28F7-37DE40F87C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52DA9F-4947-8341-71FE-A589EA372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B7207-657A-354C-8B41-D63F2796892D}" type="datetimeFigureOut">
              <a:rPr kumimoji="1" lang="zh-CN" altLang="en-US" smtClean="0"/>
              <a:t>2022/11/14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EEE299-F9CC-2D1F-F5BA-6AC852FE2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05BC5B-E8F1-7081-1CD4-20ED298B1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E1524-B659-FB4B-812D-7D45422608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55510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FC9D836-9EC0-553F-579F-769A6DB78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5A523E-6F2A-8A92-F8E0-8F9E43266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706E64-956D-9066-869D-9DB3643ECA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BB7207-657A-354C-8B41-D63F2796892D}" type="datetimeFigureOut">
              <a:rPr kumimoji="1" lang="zh-CN" altLang="en-US" smtClean="0"/>
              <a:t>2022/11/14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697207-E649-6CC1-94FA-0C82D63545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789D9BD-485E-827A-1C0A-1F3E20ABD8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FE1524-B659-FB4B-812D-7D454226088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47404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0350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FinOS AI</a:t>
            </a:r>
            <a:r>
              <a:rPr sz="95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    ENTERPRISE FINANCIAL RISK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71600"/>
            <a:ext cx="960120" cy="411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6766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企业金融风险研判 Agent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从资料到可核验风险结论的一体化工作台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99232"/>
            <a:ext cx="6400800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154680"/>
            <a:ext cx="6492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把企业资料、经营事实、业务规则与外部研究，组织成一条可追溯、可复核的研判链路。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24528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汇 报 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1655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〔汇报人〕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95144" y="4224528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机　　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95144" y="441655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〔机构名〕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76272" y="4206240"/>
            <a:ext cx="7315" cy="502920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4224528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日　　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41655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2026 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3048" y="4206240"/>
            <a:ext cx="7315" cy="502920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68696" y="4224528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关键词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68696" y="441655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风险研判 · 可信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9824" y="4206240"/>
            <a:ext cx="7315" cy="502920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029200"/>
            <a:ext cx="6492240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" y="5230368"/>
            <a:ext cx="1536192" cy="384048"/>
          </a:xfrm>
          <a:prstGeom prst="roundRect">
            <a:avLst>
              <a:gd name="adj" fmla="val 22000"/>
            </a:avLst>
          </a:prstGeom>
          <a:solidFill>
            <a:srgbClr val="101B3A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确定性规则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04288" y="5230368"/>
            <a:ext cx="1536192" cy="384048"/>
          </a:xfrm>
          <a:prstGeom prst="roundRect">
            <a:avLst>
              <a:gd name="adj" fmla="val 22000"/>
            </a:avLst>
          </a:prstGeom>
          <a:solidFill>
            <a:srgbClr val="101B3A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证据链可追溯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50208" y="5230368"/>
            <a:ext cx="1536192" cy="384048"/>
          </a:xfrm>
          <a:prstGeom prst="roundRect">
            <a:avLst>
              <a:gd name="adj" fmla="val 22000"/>
            </a:avLst>
          </a:prstGeom>
          <a:solidFill>
            <a:srgbClr val="101B3A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人机复核闭环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96128" y="5230368"/>
            <a:ext cx="1536192" cy="384048"/>
          </a:xfrm>
          <a:prstGeom prst="roundRect">
            <a:avLst>
              <a:gd name="adj" fmla="val 22000"/>
            </a:avLst>
          </a:prstGeom>
          <a:solidFill>
            <a:srgbClr val="101B3A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可私有化部署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806440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毕业设计 / 参赛答辩 · 2026 年 10 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868680"/>
            <a:ext cx="4005072" cy="548640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18120" y="1051560"/>
            <a:ext cx="45720" cy="18288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46136" y="10241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一站式研判链路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146304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0B142E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8120" y="1495044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15087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企业项目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64424" y="1773936"/>
            <a:ext cx="10972" cy="173736"/>
          </a:xfrm>
          <a:prstGeom prst="rect">
            <a:avLst/>
          </a:prstGeom>
          <a:solidFill>
            <a:srgbClr val="5A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818120" y="1947672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0B142E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8120" y="197967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19933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资料解析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64424" y="2258568"/>
            <a:ext cx="10972" cy="173736"/>
          </a:xfrm>
          <a:prstGeom prst="rect">
            <a:avLst/>
          </a:prstGeom>
          <a:solidFill>
            <a:srgbClr val="5A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818120" y="2432304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0B142E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18120" y="246430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7888" y="247802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事实抽取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64424" y="2743200"/>
            <a:ext cx="10972" cy="173736"/>
          </a:xfrm>
          <a:prstGeom prst="rect">
            <a:avLst/>
          </a:prstGeom>
          <a:solidFill>
            <a:srgbClr val="5A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818120" y="2916936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0B142E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18120" y="2948940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8" y="296265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规则匹配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64424" y="3227832"/>
            <a:ext cx="10972" cy="173736"/>
          </a:xfrm>
          <a:prstGeom prst="rect">
            <a:avLst/>
          </a:prstGeom>
          <a:solidFill>
            <a:srgbClr val="5A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818120" y="3401568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38BDF8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8120" y="3433572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61028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47888" y="344728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风险信号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712464"/>
            <a:ext cx="10972" cy="173736"/>
          </a:xfrm>
          <a:prstGeom prst="rect">
            <a:avLst/>
          </a:prstGeom>
          <a:solidFill>
            <a:srgbClr val="5A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818120" y="388620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38BDF8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18120" y="3918204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61028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47888" y="39319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人工复核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64424" y="4197096"/>
            <a:ext cx="10972" cy="173736"/>
          </a:xfrm>
          <a:prstGeom prst="rect">
            <a:avLst/>
          </a:prstGeom>
          <a:solidFill>
            <a:srgbClr val="5A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818120" y="4370832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0B142E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18120" y="440283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47888" y="441655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决策交付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955279" y="4983480"/>
            <a:ext cx="3383280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8120" y="5138928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71</a:t>
            </a:r>
            <a:r>
              <a:rPr sz="10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  条行业规则模板（9 个行业分组）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296</a:t>
            </a:r>
            <a:r>
              <a:rPr sz="10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  条规则评测 100% 通过（不调用模型）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MIT</a:t>
            </a:r>
            <a:r>
              <a:rPr sz="10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  开源 · 可私有化部署 · 数据不出内网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目录 ·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汇报目录：四个部分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02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960120"/>
            <a:ext cx="5440680" cy="2395728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06424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12471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场景与痛点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1463040"/>
            <a:ext cx="4297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一次制造业客户授信尽调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17904" y="1746504"/>
            <a:ext cx="4297680" cy="9144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17904" y="1874519"/>
            <a:ext cx="4343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真实业务场景速览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资料研判的四个痛点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为什么是「规则 + AI」分工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960120"/>
            <a:ext cx="5440680" cy="2395728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106424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1" y="112471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方案与能力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8896" y="1463040"/>
            <a:ext cx="4297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FinOS AI 如何解题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68896" y="1746504"/>
            <a:ext cx="4297680" cy="9144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68896" y="1874519"/>
            <a:ext cx="4343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解决方案总览 · 七段链路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能力全景与四阶段管线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产品界面 · 四项核心创新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447288"/>
            <a:ext cx="5440680" cy="2395728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593592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6118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落地成效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7904" y="3950208"/>
            <a:ext cx="4297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效率、质量与案例复盘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17904" y="4233672"/>
            <a:ext cx="4297680" cy="9144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17904" y="4361688"/>
            <a:ext cx="4343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整体成效量化数据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效率对照与质量评测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真实案例复盘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1" y="3447288"/>
            <a:ext cx="5440680" cy="2395728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8B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593592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1" y="36118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价值与路线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3950208"/>
            <a:ext cx="4297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可信合规与推广规划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68896" y="4233672"/>
            <a:ext cx="4297680" cy="9144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68896" y="4361688"/>
            <a:ext cx="4343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可信与合规底线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技术架构与可复现证据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推广价值与下一步规划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43600"/>
            <a:ext cx="11091672" cy="384048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943600"/>
            <a:ext cx="54864" cy="3840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6044184"/>
            <a:ext cx="10707624" cy="201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全程约 8 分钟　|　四模块按「场景 → 方案 → 成效 → 价值」递进，每页均有可核验证据。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模块一 · 场景与痛点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真实业务场景：一次制造业客户授信尽调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SCENARIO &amp; PAIN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03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45720" cy="18288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914400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场景速览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207008"/>
            <a:ext cx="6309360" cy="896112"/>
          </a:xfrm>
          <a:prstGeom prst="roundRect">
            <a:avLst>
              <a:gd name="adj" fmla="val 5500"/>
            </a:avLst>
          </a:prstGeom>
          <a:solidFill>
            <a:srgbClr val="0D1836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944" y="1353312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06102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5" y="1344168"/>
            <a:ext cx="54864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客户对象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华兴精密制造股份有限公司（制造业，拟授信流动资金贷款 5,000 万元）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94560"/>
            <a:ext cx="6309360" cy="896112"/>
          </a:xfrm>
          <a:prstGeom prst="roundRect">
            <a:avLst>
              <a:gd name="adj" fmla="val 5500"/>
            </a:avLst>
          </a:prstGeom>
          <a:solidFill>
            <a:srgbClr val="0D1836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" y="2340864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06102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2331720"/>
            <a:ext cx="54864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尽调资料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审计报告、拟签借款合同、营业执照、产销存与银行流水、客户台账等 12 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182112"/>
            <a:ext cx="6309360" cy="896112"/>
          </a:xfrm>
          <a:prstGeom prst="roundRect">
            <a:avLst>
              <a:gd name="adj" fmla="val 5500"/>
            </a:avLst>
          </a:prstGeom>
          <a:solidFill>
            <a:srgbClr val="0D1836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3328416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06102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319272"/>
            <a:ext cx="54864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交付目标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3 个工作日内给出可核验的结论与风险清单，并完成复核留痕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69664"/>
            <a:ext cx="6309360" cy="896112"/>
          </a:xfrm>
          <a:prstGeom prst="roundRect">
            <a:avLst>
              <a:gd name="adj" fmla="val 5500"/>
            </a:avLst>
          </a:prstGeom>
          <a:solidFill>
            <a:srgbClr val="0D1836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" y="4315968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06102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5" y="4306824"/>
            <a:ext cx="54864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参与角色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客户经理、风控复核人（职责分离，结论必须人工确认）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157216"/>
            <a:ext cx="6309360" cy="896112"/>
          </a:xfrm>
          <a:prstGeom prst="roundRect">
            <a:avLst>
              <a:gd name="adj" fmla="val 5500"/>
            </a:avLst>
          </a:prstGeom>
          <a:solidFill>
            <a:srgbClr val="0D1836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530352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06102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5" y="5294376"/>
            <a:ext cx="54864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核心难点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资料分散、口径不一、结论难追溯、复核与审批留痕分散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941832"/>
            <a:ext cx="45720" cy="1828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14616" y="914400"/>
            <a:ext cx="45537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现状：四个痛点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86600" y="1207008"/>
            <a:ext cx="2221992" cy="118872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① 资料散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8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PDF/Word/Excel/图片混放，数字靠人工誊抄，慢且易错。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1207008"/>
            <a:ext cx="2221992" cy="118872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② 口径乱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8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同一套准入制度，不同人阈值把握不一，标准漂移。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86600" y="2505456"/>
            <a:ext cx="2221992" cy="118872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>
                <a:solidFill>
                  <a:srgbClr val="FB7185"/>
                </a:solidFill>
                <a:latin typeface="微软雅黑"/>
                <a:ea typeface="微软雅黑"/>
                <a:cs typeface="微软雅黑"/>
              </a:rPr>
              <a:t>③ 结论虚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8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结论说完就散，说不清依据哪份资料、哪条规则、哪个位置。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18320" y="2505456"/>
            <a:ext cx="2221992" cy="118872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④ 协作断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8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复核与审批留痕分散，关键结论缺人工确认闭环。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86600" y="3913632"/>
            <a:ext cx="4553712" cy="146304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86600" y="3913632"/>
            <a:ext cx="54864" cy="14630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7768" y="4014216"/>
            <a:ext cx="416966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我们需要什么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可复现的判定（确定性规则）＋ 可追溯的证据（原文引用与位置）＋ 可留痕的复核（人工确认与审计）。三者缺一不可。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模块一 · 场景与痛点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为什么是「确定性规则 + 大模型」分工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WHY RULES +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04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914400"/>
            <a:ext cx="3630168" cy="749808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确定性规则引擎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8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命中判定用纯函数，同一输入永远同一结论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5" y="914400"/>
            <a:ext cx="3630168" cy="749808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大模型语义层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8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负责事实抽取与研判叙述，只懂语义不做判定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1" y="914400"/>
            <a:ext cx="3630168" cy="749808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证据链 + 人工复核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8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每条事实带引用位置，候选风险强制人工核验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810512"/>
          <a:ext cx="11091670" cy="29379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353"/>
                <a:gridCol w="2423390"/>
                <a:gridCol w="2143768"/>
                <a:gridCol w="4567159"/>
              </a:tblGrid>
              <a:tr h="469087">
                <a:tc>
                  <a:txBody>
                    <a:bodyPr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91440" marR="73152" marT="18288" marB="18288" anchor="ctr">
                    <a:solidFill>
                      <a:srgbClr val="15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纯人工</a:t>
                      </a:r>
                    </a:p>
                  </a:txBody>
                  <a:tcPr marL="91440" marR="73152" marT="18288" marB="18288" anchor="ctr">
                    <a:solidFill>
                      <a:srgbClr val="15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纯大模型</a:t>
                      </a:r>
                    </a:p>
                  </a:txBody>
                  <a:tcPr marL="91440" marR="73152" marT="18288" marB="18288" anchor="ctr">
                    <a:solidFill>
                      <a:srgbClr val="15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FinOS AI</a:t>
                      </a:r>
                    </a:p>
                  </a:txBody>
                  <a:tcPr marL="91440" marR="73152" marT="18288" marB="18288" anchor="ctr">
                    <a:solidFill>
                      <a:srgbClr val="152A5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可复现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视人而定，口径漂移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不可复现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规则判定纯函数，同输入同结论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语义理解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强，但慢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强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大模型负责抽取与叙述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证据可追溯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记录不完整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易编造、无出处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每条事实带原文引用与位置（行号/单元格/图像）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人工复核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口头 / 分散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候选风险强制人工核验 + 全程留痕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审计与治理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弱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角色 / 密级 / 复核队列 / 全量审计内建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983480"/>
            <a:ext cx="11091672" cy="128016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983480"/>
            <a:ext cx="54864" cy="128016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5084064"/>
            <a:ext cx="1070762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一句话总结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把「判定」交给确定性代码（可复现、可审计），把「理解」交给大模型（懂语义），再用「证据链 + 人工复核」把两者焊死在一条可追溯链路上。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模块二 · 方案与能力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解决方案总览 · 核心链路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SOLUTION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05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960120"/>
            <a:ext cx="1442923" cy="749808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企业项目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1563" y="960120"/>
            <a:ext cx="1645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6155" y="960120"/>
            <a:ext cx="1442923" cy="749808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资料解析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9078" y="960120"/>
            <a:ext cx="1645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63670" y="960120"/>
            <a:ext cx="1442923" cy="749808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事实抽取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06593" y="960120"/>
            <a:ext cx="1645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71185" y="960120"/>
            <a:ext cx="1442923" cy="749808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规则匹配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4108" y="960120"/>
            <a:ext cx="1645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78700" y="960120"/>
            <a:ext cx="1442923" cy="749808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风险信号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960120"/>
            <a:ext cx="1645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86215" y="960120"/>
            <a:ext cx="1442923" cy="749808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人工复核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29139" y="960120"/>
            <a:ext cx="1645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3731" y="960120"/>
            <a:ext cx="1442923" cy="749808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决策交付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057400"/>
            <a:ext cx="2697480" cy="25146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以项目为容器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围绕一笔融资 / 尽调 / 经营分析任务，集中管理资料、规则、风险、结论与流程。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4992" y="2057400"/>
            <a:ext cx="2697480" cy="25146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事实可核验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每条事实携带原文逐字引用与位置（行号 / 单元格 / 图像坐标），结论逐级可追溯。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2057400"/>
            <a:ext cx="2697480" cy="25146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规则确定性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命中判定由纯函数规则引擎完成，同一输入永远得到同一结论，可复现、可审计。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2057400"/>
            <a:ext cx="2697480" cy="25146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8B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人机闭环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候选风险必须经有权限人员核验，操作全程留痕，形成可交付的研判报告。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754880"/>
            <a:ext cx="11091672" cy="150876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754880"/>
            <a:ext cx="54864" cy="150876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855464"/>
            <a:ext cx="1070762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方案价值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把过去散落在多处工具与人工表格里的动作，收敛到同一条链路：上传资料即产出带引用的事实、命中确定性的规则、生成可复核的风险与报告——过程可回放、结论可追溯、责任可界定。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模块二 · 方案与能力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能力全景：覆盖企业金融研判全流程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06 / 17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960120"/>
          <a:ext cx="11091672" cy="50040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48472"/>
              </a:tblGrid>
              <a:tr h="47777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能力模块</a:t>
                      </a:r>
                    </a:p>
                  </a:txBody>
                  <a:tcPr marL="91440" marR="73152" marT="18288" marB="18288" anchor="ctr">
                    <a:solidFill>
                      <a:srgbClr val="15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作用与关键点</a:t>
                      </a:r>
                    </a:p>
                  </a:txBody>
                  <a:tcPr marL="91440" marR="73152" marT="18288" marB="18288" anchor="ctr">
                    <a:solidFill>
                      <a:srgbClr val="152A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经营决策台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统一观察项目、资料、风险、任务与 Agent 运行态；待办按风险等级排序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项目中心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企业项目全生命周期：行业、金额、负责人、推进阶段（表格 / 看板双视图）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资料研判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文本 / 图片 OCR / 表格结构识别，事实台账逐条携带原文引用并可定位原文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风险中心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按等级聚合风险信号；详情含 What / Evidence / Rule / Impact / Review / Traceability 六段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规则库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准入、授信、并购、担保等规则；9 个行业分组、71 条模板，可测试、可版本化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流程中心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研判流程全景与任务看板：待处理 → 处理中 → 待复核 → 已完成，超期标红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Agent / 助手 / 投研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资料理解、规则匹配、风险研判、投研整理子 Agent；流式助手与 AI 底稿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企业治理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五级角色、项目授权、数据密级、复核队列、模型评测、连接器与全量审计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模型中心 / 数据大屏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自带模型接入与用量观测；经营与风险全景大屏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模块二 · 方案与能力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实操：从上传到可交付报告（四阶段管线）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HOW IT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07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960120"/>
            <a:ext cx="4892040" cy="969264"/>
          </a:xfrm>
          <a:prstGeom prst="roundRect">
            <a:avLst>
              <a:gd name="adj" fmla="val 5500"/>
            </a:avLst>
          </a:prstGeom>
          <a:solidFill>
            <a:srgbClr val="0D1836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4944" y="1106424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06102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5" y="1097280"/>
            <a:ext cx="40690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解析文件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PDF / Word / Excel / 图片自动解析，保留结构与页码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20824"/>
            <a:ext cx="4892040" cy="969264"/>
          </a:xfrm>
          <a:prstGeom prst="roundRect">
            <a:avLst>
              <a:gd name="adj" fmla="val 5500"/>
            </a:avLst>
          </a:prstGeom>
          <a:solidFill>
            <a:srgbClr val="0D1836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2167128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06102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5" y="2157984"/>
            <a:ext cx="40690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抽取事实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大模型抽取量化事实，逐条带原文引用与位置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81528"/>
            <a:ext cx="4892040" cy="969264"/>
          </a:xfrm>
          <a:prstGeom prst="roundRect">
            <a:avLst>
              <a:gd name="adj" fmla="val 5500"/>
            </a:avLst>
          </a:prstGeom>
          <a:solidFill>
            <a:srgbClr val="0D1836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4944" y="3227832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06102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5" y="3218688"/>
            <a:ext cx="40690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规则判定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确定性规则引擎对事实逐条命中判定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142231"/>
            <a:ext cx="4892040" cy="969264"/>
          </a:xfrm>
          <a:prstGeom prst="roundRect">
            <a:avLst>
              <a:gd name="adj" fmla="val 5500"/>
            </a:avLst>
          </a:prstGeom>
          <a:solidFill>
            <a:srgbClr val="0D1836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4944" y="4288536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06102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5" y="4279392"/>
            <a:ext cx="40690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生成叙述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基于事实与命中生成研判说明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57800"/>
            <a:ext cx="4892040" cy="100584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257800"/>
            <a:ext cx="54864" cy="10058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5358384"/>
            <a:ext cx="45079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后续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候选风险 → 人工复核确认 → 一键导出 Markdown / Word / PDF 研判报告，全程留痕。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0" y="960120"/>
            <a:ext cx="6016752" cy="2542032"/>
          </a:xfrm>
          <a:prstGeom prst="roundRect">
            <a:avLst>
              <a:gd name="adj" fmla="val 5500"/>
            </a:avLst>
          </a:prstGeom>
          <a:solidFill>
            <a:srgbClr val="F3F6FB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03-documents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0179" y="1051560"/>
            <a:ext cx="3423513" cy="21396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733288" y="322783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19" b="0">
                <a:solidFill>
                  <a:srgbClr val="8A93A3"/>
                </a:solidFill>
                <a:latin typeface="微软雅黑"/>
                <a:ea typeface="微软雅黑"/>
                <a:cs typeface="微软雅黑"/>
              </a:rPr>
              <a:t>图 1　资料研判：事实台账逐条携带原文引用，可定位原文 / 转候选风险 / 人工复核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3639312"/>
            <a:ext cx="6016752" cy="2624328"/>
          </a:xfrm>
          <a:prstGeom prst="roundRect">
            <a:avLst>
              <a:gd name="adj" fmla="val 5500"/>
            </a:avLst>
          </a:prstGeom>
          <a:solidFill>
            <a:srgbClr val="F3F6FB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06-risk-dra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342" y="3730752"/>
            <a:ext cx="3555187" cy="222199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33288" y="5989320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19" b="0">
                <a:solidFill>
                  <a:srgbClr val="8A93A3"/>
                </a:solidFill>
                <a:latin typeface="微软雅黑"/>
                <a:ea typeface="微软雅黑"/>
                <a:cs typeface="微软雅黑"/>
              </a:rPr>
              <a:t>图 2　风险详情：What / Evidence / Rule / Impact / Review / Traceability 六段逐级可查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模块二 · 方案与能力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产品界面一览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PRODUCT SCREENS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08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960120"/>
            <a:ext cx="5440680" cy="2578608"/>
          </a:xfrm>
          <a:prstGeom prst="roundRect">
            <a:avLst>
              <a:gd name="adj" fmla="val 5500"/>
            </a:avLst>
          </a:prstGeom>
          <a:solidFill>
            <a:srgbClr val="F3F6FB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962" y="1051560"/>
            <a:ext cx="3482035" cy="2176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3264408"/>
            <a:ext cx="52212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19" b="0">
                <a:solidFill>
                  <a:srgbClr val="8A93A3"/>
                </a:solidFill>
                <a:latin typeface="微软雅黑"/>
                <a:ea typeface="微软雅黑"/>
                <a:cs typeface="微软雅黑"/>
              </a:rPr>
              <a:t>经营决策台：待办按风险排序，项目 / 资料 / 风险 / 动态一屏总览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1" y="960120"/>
            <a:ext cx="5440680" cy="2578608"/>
          </a:xfrm>
          <a:prstGeom prst="roundRect">
            <a:avLst>
              <a:gd name="adj" fmla="val 5500"/>
            </a:avLst>
          </a:prstGeom>
          <a:solidFill>
            <a:srgbClr val="F3F6FB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08-rules-vis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954" y="1051560"/>
            <a:ext cx="3482035" cy="2176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09359" y="3264408"/>
            <a:ext cx="52212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19" b="0">
                <a:solidFill>
                  <a:srgbClr val="8A93A3"/>
                </a:solidFill>
                <a:latin typeface="微软雅黑"/>
                <a:ea typeface="微软雅黑"/>
                <a:cs typeface="微软雅黑"/>
              </a:rPr>
              <a:t>规则库 · 决策逻辑：条件阈值可视化，可测试、可版本化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75888"/>
            <a:ext cx="5440680" cy="2578608"/>
          </a:xfrm>
          <a:prstGeom prst="roundRect">
            <a:avLst>
              <a:gd name="adj" fmla="val 5500"/>
            </a:avLst>
          </a:prstGeom>
          <a:solidFill>
            <a:srgbClr val="F3F6FB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13-screen-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962" y="3767328"/>
            <a:ext cx="3482035" cy="21762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8368" y="5980176"/>
            <a:ext cx="52212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19" b="0">
                <a:solidFill>
                  <a:srgbClr val="8A93A3"/>
                </a:solidFill>
                <a:latin typeface="微软雅黑"/>
                <a:ea typeface="微软雅黑"/>
                <a:cs typeface="微软雅黑"/>
              </a:rPr>
              <a:t>数据大屏：经营与风险全景，关键指标实时呈现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1" y="3675888"/>
            <a:ext cx="5440680" cy="2578608"/>
          </a:xfrm>
          <a:prstGeom prst="roundRect">
            <a:avLst>
              <a:gd name="adj" fmla="val 5500"/>
            </a:avLst>
          </a:prstGeom>
          <a:solidFill>
            <a:srgbClr val="F3F6FB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05-risk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954" y="3767328"/>
            <a:ext cx="3482035" cy="2176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09359" y="5980176"/>
            <a:ext cx="52212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19" b="0">
                <a:solidFill>
                  <a:srgbClr val="8A93A3"/>
                </a:solidFill>
                <a:latin typeface="微软雅黑"/>
                <a:ea typeface="微软雅黑"/>
                <a:cs typeface="微软雅黑"/>
              </a:rPr>
              <a:t>风险中心：按等级聚合信号，候选风险待人工核验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模块二 · 方案与能力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四项核心创新：可信 AI 研判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INNOVATION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09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960120"/>
            <a:ext cx="5440680" cy="169164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1. 双引擎分工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规则判定 = 确定性纯函数（可复现、可审计）；语义理解与叙述 = 大模型。既懂语义，又可复现。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1" y="960120"/>
            <a:ext cx="5440680" cy="169164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2. 证据链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每条事实带原文逐字引用与位置；结论 → 事实 → 证据 → 来源逐级可追溯。实测引用有效性 100%。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61488"/>
            <a:ext cx="5440680" cy="169164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3. 人机复核闭环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候选风险必须人工核验才成为正式风险；核验意见与缓释措施全程留痕，责任可界定。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1" y="2761488"/>
            <a:ext cx="5440680" cy="169164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8B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4. 企业治理内建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五级角色、项目授权、数据密级、复核队列、模型评测与审计开箱可用，无需二次建设。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617720"/>
            <a:ext cx="45720" cy="1828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4590288"/>
            <a:ext cx="1109167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可复现证据（可一条命令复现）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64608"/>
            <a:ext cx="2697480" cy="141732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296 / 296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5046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规则引擎评测通过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97296"/>
            <a:ext cx="23957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npm run benchmark　·　不调用模型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64992" y="4864608"/>
            <a:ext cx="2697480" cy="141732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7872" y="50292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95.8%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55046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事实抽取 F1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5797296"/>
            <a:ext cx="23957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npm run ai-eval　·　引用有效性 100%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4864608"/>
            <a:ext cx="2697480" cy="141732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50292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18 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046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端到端主链路通过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5797296"/>
            <a:ext cx="23957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node tests/e2e/main-chain.mjs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7696" y="4864608"/>
            <a:ext cx="2697480" cy="141732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8B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576" y="50292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85 / 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046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单元测试 / 契约测试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576" y="5797296"/>
            <a:ext cx="23957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npm test　·　CI + CodeQL 全绿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模块三 · 落地成效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整体成效：一笔尽调的量化结果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RESULTS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10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960120"/>
            <a:ext cx="2139696" cy="13716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25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12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份尽调资料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960120"/>
            <a:ext cx="2139696" cy="13716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25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62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条结构化事实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960120"/>
            <a:ext cx="2139696" cy="13716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25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9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条规则命中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960120"/>
            <a:ext cx="2139696" cy="13716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2500" b="1">
                <a:solidFill>
                  <a:srgbClr val="FB7185"/>
                </a:solidFill>
                <a:latin typeface="微软雅黑"/>
                <a:ea typeface="微软雅黑"/>
                <a:cs typeface="微软雅黑"/>
              </a:rPr>
              <a:t>6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条候选风险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960120"/>
            <a:ext cx="2139696" cy="13716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8B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250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4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条复核确认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548640" y="2606040"/>
          <a:ext cx="54864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263640" y="2606040"/>
            <a:ext cx="5376672" cy="16002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效率对照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人工基线约 32 人时（2 人 × 2 天），FinOS AI 约 45 分钟完成同一笔尽调，且包含人工复核环节。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389120"/>
            <a:ext cx="5376672" cy="16002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数据说明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本页为演示数据，源自真实业务场景的模拟值：上传 12 份资料后，系统完成解析、抽取、判定与叙述，产出 62 条带引用的事实与 6 条候选风险。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模块三 · 落地成效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质量与覆盖：可复现的评测证据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QUALITY &amp;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11 / 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100584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263640" y="1005840"/>
          <a:ext cx="5376672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892040"/>
          <a:ext cx="11091671" cy="12138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3291840"/>
                <a:gridCol w="3044951"/>
              </a:tblGrid>
              <a:tr h="39090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评测项</a:t>
                      </a:r>
                    </a:p>
                  </a:txBody>
                  <a:tcPr marL="91440" marR="73152" marT="18288" marB="18288" anchor="ctr">
                    <a:solidFill>
                      <a:srgbClr val="15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marL="91440" marR="73152" marT="18288" marB="18288" anchor="ctr">
                    <a:solidFill>
                      <a:srgbClr val="15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复现命令</a:t>
                      </a:r>
                    </a:p>
                  </a:txBody>
                  <a:tcPr marL="91440" marR="73152" marT="18288" marB="18288" anchor="ctr">
                    <a:solidFill>
                      <a:srgbClr val="152A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规则引擎（296 条用例，不调用模型）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 通过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npm run benchmark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事实抽取（精确率 / 召回率 / F1）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95.8% / 引用有效性 100%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npm run ai-eval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模块三 · 落地成效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真实案例复盘：从痛点 to 赋能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CASE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12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960120"/>
            <a:ext cx="5440680" cy="219456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>
                <a:solidFill>
                  <a:srgbClr val="FB7185"/>
                </a:solidFill>
                <a:latin typeface="微软雅黑"/>
                <a:ea typeface="微软雅黑"/>
                <a:cs typeface="微软雅黑"/>
              </a:rPr>
              <a:t>客户经理的痛点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· 客户数增长，尽调资料越堆越多，关键数字靠人工誊抄，容易漏；
· 同一套制度，不同同事阈值把握不一，标准漂移；
· 结论写进报告后，说不清依据哪条资料、哪条规则；
· 复核与审批意见分散在群里，责任边界模糊；
· 一个尽调需要 2 个人约 2 天，重复劳动占比高；
· 外部政策与公告靠人工检索，口径不一、难以复核。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960120"/>
            <a:ext cx="5440680" cy="219456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系统赋能过程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· 上传 12 份资料，四阶段自动解析与抽取，产出 62 条带引用事实；
· 确定性规则引擎命中 9 条规则，生成 6 条候选风险；
· 风险详情六段结构逐级可查（证据 / 规则 / 影响 / 复核 / 溯源）；
· 人工复核确认 4 条，核验意见与缓释措施全程留痕；
· 外部数据源自动接入（汇率 / LPR / 公告等），标注需人工复核；
· 一键导出研判报告，单笔尽调从 2 天缩短到约 45 分钟。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45720" cy="182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3310128"/>
            <a:ext cx="1109167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耗时对比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84448"/>
            <a:ext cx="2130552" cy="141732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3767328"/>
            <a:ext cx="1837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上传资料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4160520"/>
            <a:ext cx="183794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 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9192" y="3584448"/>
            <a:ext cx="914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70632" y="3584448"/>
            <a:ext cx="2130552" cy="141732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16936" y="3767328"/>
            <a:ext cx="1837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解析 + 抽取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16936" y="4160520"/>
            <a:ext cx="183794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62 条事实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3584448"/>
            <a:ext cx="914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92624" y="3584448"/>
            <a:ext cx="2130552" cy="141732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3767328"/>
            <a:ext cx="1837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规则命中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4160520"/>
            <a:ext cx="183794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 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6" y="3584448"/>
            <a:ext cx="914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14616" y="3584448"/>
            <a:ext cx="2130552" cy="141732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20" y="3767328"/>
            <a:ext cx="1837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人工复核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4160520"/>
            <a:ext cx="183794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6→4 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3584448"/>
            <a:ext cx="914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36608" y="3584448"/>
            <a:ext cx="2130552" cy="141732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82912" y="3767328"/>
            <a:ext cx="18379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导出报告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82912" y="4160520"/>
            <a:ext cx="183794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约 45 分钟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230368"/>
            <a:ext cx="11091672" cy="105156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230368"/>
            <a:ext cx="54864" cy="1051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5330952"/>
            <a:ext cx="1070762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案例结论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同一条链路把资料整理、事实抽取、规则判定、风险复核串起来：单笔尽调从 2 天 / 约 32 人时降到约 45 分钟，结论可追溯、责任可界定，重复劳动大幅减少。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8B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模块四 · 价值与路线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可信与合规：金融场景的底线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TRUST &amp;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13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960120"/>
            <a:ext cx="3611880" cy="201168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密钥零泄露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模型 API Key 在服务端以 AES-256-GCM 加密保存，返回浏览器仅掩码显示。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6824" y="960120"/>
            <a:ext cx="3611880" cy="201168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身份与令牌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短期 Access Token + HttpOnly Refresh Cookie，支持原子吊销与重放检测。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960120"/>
            <a:ext cx="3611880" cy="201168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安全边界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上传分块限额、出站 SSRF 防护、分级限流、可信反向代理校验。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08960"/>
            <a:ext cx="3611880" cy="201168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8B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组织治理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五级角色、项目授权、数据密级、复核队列与不可见操作留痕。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6824" y="3108960"/>
            <a:ext cx="3611880" cy="201168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开源可私有化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MIT 许可，支持自带模型与私有化部署，数据不出内网。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3108960"/>
            <a:ext cx="3611880" cy="201168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可观测与审计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模型用量、调用延迟与错误率可观测；所有关键动作写入审计记录。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349240"/>
            <a:ext cx="11091672" cy="91440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9144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5449824"/>
            <a:ext cx="107076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>
                <a:solidFill>
                  <a:srgbClr val="FB7185"/>
                </a:solidFill>
                <a:latin typeface="微软雅黑"/>
                <a:ea typeface="微软雅黑"/>
                <a:cs typeface="微软雅黑"/>
              </a:rPr>
              <a:t>责任边界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所有 AI 输出必须人工复核；系统提供信息分析与辅助决策，不替代授信、投资、法律、审计或合规决策。重大结论请以人工复核为准。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8B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模块四 · 价值与路线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技术架构与可复现证据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ARCHITECTURE &amp;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14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960120"/>
            <a:ext cx="6675120" cy="233172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技术架构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前端：Next.js 15 / React 19 / TypeScript strict / Tailwind CSS
服务端：FastAPI + SQLAlchemy 2（Python）
数据：SQLite（开发）/ PostgreSQL 16（生产）+ Redis（可选）
模型：自带供应商，凭据仅服务端加密存储，支持多模型接入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42631" y="960120"/>
            <a:ext cx="4297680" cy="233172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安全设计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短期令牌 + HttpOnly Refresh
AES-256-GCM 字段加密
SSRF / 分级限流 / 可信代理
MIT 开源 · 可自托管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74720"/>
            <a:ext cx="3611880" cy="123444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58444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规则引擎评测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8404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296 / 296 通过（100%）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16052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npm run benchmark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6824" y="3474720"/>
            <a:ext cx="3611880" cy="123444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58444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事实抽取评测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8404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 / R / F1 = 95.8%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16052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npm run ai-eval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5008" y="3474720"/>
            <a:ext cx="3611880" cy="123444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358444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端到端与单测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404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主链路 18 · 单测 85 · 契约 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16052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CI + CodeQL 全绿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4892040"/>
          <a:ext cx="11091672" cy="12138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5605272"/>
              </a:tblGrid>
              <a:tr h="39090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可核验规模</a:t>
                      </a:r>
                    </a:p>
                  </a:txBody>
                  <a:tcPr marL="91440" marR="73152" marT="18288" marB="18288" anchor="ctr">
                    <a:solidFill>
                      <a:srgbClr val="15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数值</a:t>
                      </a:r>
                    </a:p>
                  </a:txBody>
                  <a:tcPr marL="91440" marR="73152" marT="18288" marB="18288" anchor="ctr">
                    <a:solidFill>
                      <a:srgbClr val="15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说明</a:t>
                      </a:r>
                    </a:p>
                  </a:txBody>
                  <a:tcPr marL="91440" marR="73152" marT="18288" marB="18288" anchor="ctr">
                    <a:solidFill>
                      <a:srgbClr val="152A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规则模板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71 条 · 9 个行业分组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一键加入项目后按需调整，支持版本化与测试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外部数据源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 类（免费、无需密钥）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汇率、LPR、世界银行、GLEIF、SEC 申报、美财政部利率、巨潮公告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8B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模块四 · 价值与路线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推广价值 · 适用场景 · 落地路径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VALUE &amp;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15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960120"/>
            <a:ext cx="2697480" cy="16002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适用机构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银行授信 / 供应链金融 / 融资租赁 / 企业风控 / 投研机构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960120"/>
            <a:ext cx="2697480" cy="16002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适用任务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尽调、贷前核验、经营分析、并购与投融资资料整理、制度规则复核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960120"/>
            <a:ext cx="2697480" cy="16002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行业模板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9 个行业分组、71 条规则模板，一键加入后按需调整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960120"/>
            <a:ext cx="2697480" cy="16002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8B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开源许可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MIT 开源，支持自带模型与二次开发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70632"/>
            <a:ext cx="45720" cy="182880"/>
          </a:xfrm>
          <a:prstGeom prst="rect">
            <a:avLst/>
          </a:prstGeom>
          <a:solidFill>
            <a:srgbClr val="8B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743200"/>
            <a:ext cx="1109167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落地路径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35808"/>
            <a:ext cx="2130552" cy="658368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8B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1. 接入自有模型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9192" y="3035808"/>
            <a:ext cx="91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70632" y="3035808"/>
            <a:ext cx="2130552" cy="658368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8B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 建项目上传资料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01184" y="3035808"/>
            <a:ext cx="91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92624" y="3035808"/>
            <a:ext cx="2130552" cy="658368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8B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 配置行业规则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6" y="3035808"/>
            <a:ext cx="91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14616" y="3035808"/>
            <a:ext cx="2130552" cy="658368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8B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4. 人工复核风险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3035808"/>
            <a:ext cx="914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36608" y="3035808"/>
            <a:ext cx="2130552" cy="658368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 输出研判报告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968496"/>
          <a:ext cx="11091672" cy="1991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336792"/>
              </a:tblGrid>
              <a:tr h="38221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外部数据源（免费、无需密钥）</a:t>
                      </a:r>
                    </a:p>
                  </a:txBody>
                  <a:tcPr marL="91440" marR="73152" marT="18288" marB="18288" anchor="ctr">
                    <a:solidFill>
                      <a:srgbClr val="15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用途</a:t>
                      </a:r>
                    </a:p>
                  </a:txBody>
                  <a:tcPr marL="91440" marR="73152" marT="18288" marB="18288" anchor="ctr">
                    <a:solidFill>
                      <a:srgbClr val="152A5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汇率 / LPR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授信定价与利率参照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世界银行 / 美国财政部利率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宏观与基准利率参考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GLEIF / SEC 申报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主体识别与境外公开披露核验</a:t>
                      </a:r>
                    </a:p>
                  </a:txBody>
                  <a:tcPr marL="91440" marR="73152" marT="18288" marB="18288" anchor="ctr">
                    <a:solidFill>
                      <a:srgbClr val="0B14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巨潮公告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7D2D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境内上市公司公告与风险信息</a:t>
                      </a:r>
                    </a:p>
                  </a:txBody>
                  <a:tcPr marL="91440" marR="73152" marT="18288" marB="18288" anchor="ctr">
                    <a:solidFill>
                      <a:srgbClr val="101B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8B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模块四 · 价值与路线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下一步规划 · 路线图与部署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56032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ROADMAP &amp; DEPLOY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37376"/>
            <a:ext cx="1109167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>
                <a:solidFill>
                  <a:srgbClr val="5A6B8F"/>
                </a:solidFill>
                <a:latin typeface="微软雅黑"/>
                <a:ea typeface="微软雅黑"/>
                <a:cs typeface="微软雅黑"/>
              </a:rPr>
              <a:t>FinOS AI · 企业金融风险研判 Agent · 从资料到可核验风险结论的一体化工作台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1052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50" b="1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16 /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515600" cy="18288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960120"/>
            <a:ext cx="329184" cy="329184"/>
          </a:xfrm>
          <a:prstGeom prst="roundRect">
            <a:avLst>
              <a:gd name="adj" fmla="val 3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005840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61028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9875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近期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3611880" cy="18288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扩充行业规则包与评测集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补充制造、供应链、软件等行业规则；扩展规则引擎与事实抽取评测集。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6824" y="960120"/>
            <a:ext cx="329184" cy="329184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06824" y="1005840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61028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4" y="9875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中期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06824" y="2148840"/>
            <a:ext cx="3611880" cy="18288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接入更多受控数据源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扩展公告、工商、司法等公开数据源连接器，全部标注需人工复核。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960120"/>
            <a:ext cx="329184" cy="329184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1005840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61028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98755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远期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2148840"/>
            <a:ext cx="3611880" cy="182880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推进真实业务试点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与业务方共建试点，沉淀量化收益基线，形成可复制的落地方案。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60520"/>
            <a:ext cx="6675120" cy="169164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8B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8B9CFF"/>
                </a:solidFill>
                <a:latin typeface="微软雅黑"/>
                <a:ea typeface="微软雅黑"/>
                <a:cs typeface="微软雅黑"/>
              </a:rPr>
              <a:t>部署与开源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Docker 一键部署；也可只跑前端体验完整链路。MIT 开源，欢迎共建规则包与连接器。共享默认模型已配置，访客无需填 Key 即可体验示例项目。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42631" y="4160520"/>
            <a:ext cx="4297680" cy="169164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体验入口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载入示例项目 → 上传 / 解析 → 事实台账 → 规则命中 → 风险复核 → 导出报告，全链路零门槛演示。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858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SUMMARY &amp; THANKS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10916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让每一个金融判断，都能回到证据、规则与人工复核。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697480"/>
            <a:ext cx="6336792" cy="10972"/>
          </a:xfrm>
          <a:prstGeom prst="rect">
            <a:avLst/>
          </a:prstGeom>
          <a:solidFill>
            <a:srgbClr val="2A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971800"/>
            <a:ext cx="3611880" cy="169164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规则可复现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规则判定纯函数化，同输入同结论，可审计、可版本化。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2971800"/>
            <a:ext cx="3611880" cy="169164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微软雅黑"/>
                <a:ea typeface="微软雅黑"/>
                <a:cs typeface="微软雅黑"/>
              </a:rPr>
              <a:t>证据可追溯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每条事实带原文引用与位置，引用有效性实测 100%。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2971800"/>
            <a:ext cx="3611880" cy="1691640"/>
          </a:xfrm>
          <a:prstGeom prst="roundRect">
            <a:avLst>
              <a:gd name="adj" fmla="val 5500"/>
            </a:avLst>
          </a:prstGeom>
          <a:solidFill>
            <a:srgbClr val="0B142E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09728" bIns="91440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微软雅黑"/>
                <a:ea typeface="微软雅黑"/>
                <a:cs typeface="微软雅黑"/>
              </a:rPr>
              <a:t>责任可界定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候选风险强制人工复核，全程留痕，责任边界清晰。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500"/>
            </a:avLst>
          </a:prstGeom>
          <a:solidFill>
            <a:srgbClr val="101B3A"/>
          </a:solidFill>
          <a:ln w="9525">
            <a:solidFill>
              <a:srgbClr val="2A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开源地址：</a:t>
            </a:r>
            <a:r>
              <a:rPr sz="1200" b="0">
                <a:solidFill>
                  <a:srgbClr val="38BDF8"/>
                </a:solidFill>
                <a:latin typeface="微软雅黑"/>
                <a:ea typeface="微软雅黑"/>
                <a:cs typeface="微软雅黑"/>
              </a:rPr>
              <a:t>github.com/Leterhong/FinOS-AI</a:t>
            </a:r>
            <a:r>
              <a:rPr sz="1100" b="0">
                <a:solidFill>
                  <a:srgbClr val="94A3B8"/>
                </a:solidFill>
                <a:latin typeface="微软雅黑"/>
                <a:ea typeface="微软雅黑"/>
                <a:cs typeface="微软雅黑"/>
              </a:rPr>
              <a:t>　（MIT 许可）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C7D2DE"/>
                </a:solidFill>
                <a:latin typeface="微软雅黑"/>
                <a:ea typeface="微软雅黑"/>
                <a:cs typeface="微软雅黑"/>
              </a:rPr>
              <a:t>Q &amp; A　|　汇报人：〔汇报人〕　机构：〔机构名〕　|　2026 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2854</TotalTime>
  <Words>3911</Words>
  <Application>Microsoft Macintosh PowerPoint</Application>
  <PresentationFormat>宽屏</PresentationFormat>
  <Paragraphs>819</Paragraphs>
  <Slides>29</Slides>
  <Notes>2</Notes>
  <HiddenSlides>2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44" baseType="lpstr">
      <vt:lpstr>-webkit-standard</vt:lpstr>
      <vt:lpstr>阿里巴巴普惠体 R</vt:lpstr>
      <vt:lpstr>等线</vt:lpstr>
      <vt:lpstr>等线 Light</vt:lpstr>
      <vt:lpstr>方正兰亭黑简体</vt:lpstr>
      <vt:lpstr>思源黑体 Medium</vt:lpstr>
      <vt:lpstr>Microsoft YaHei</vt:lpstr>
      <vt:lpstr>Microsoft YaHei</vt:lpstr>
      <vt:lpstr>FZZhengHeiS-DB-GB</vt:lpstr>
      <vt:lpstr>Microsoft YaHei Light</vt:lpstr>
      <vt:lpstr>MiSans Bold</vt:lpstr>
      <vt:lpstr>Arial</vt:lpstr>
      <vt:lpstr>Calibri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Microsoft Office User</cp:lastModifiedBy>
  <cp:revision>38</cp:revision>
  <dcterms:created xsi:type="dcterms:W3CDTF">2022-11-02T02:42:13Z</dcterms:created>
  <dcterms:modified xsi:type="dcterms:W3CDTF">2022-11-14T08:20:30Z</dcterms:modified>
</cp:coreProperties>
</file>